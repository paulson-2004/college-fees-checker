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95A5A1-F284-45FF-9B44-0DF1C972F2A3}" type="datetimeFigureOut">
              <a:rPr lang="en-IN" smtClean="0"/>
              <a:t>11-10-2024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06C133-9C58-4477-9F47-B2E0268D904D}" type="slidenum">
              <a:rPr lang="en-IN" smtClean="0"/>
              <a:t>‹#›</a:t>
            </a:fld>
            <a:endParaRPr lang="en-IN"/>
          </a:p>
        </p:txBody>
      </p:sp>
    </p:spTree>
    <p:extLst>
      <p:ext uri="{BB962C8B-B14F-4D97-AF65-F5344CB8AC3E}">
        <p14:creationId xmlns:p14="http://schemas.microsoft.com/office/powerpoint/2010/main" val="3258398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95A5A1-F284-45FF-9B44-0DF1C972F2A3}" type="datetimeFigureOut">
              <a:rPr lang="en-IN" smtClean="0"/>
              <a:t>11-10-2024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06C133-9C58-4477-9F47-B2E0268D904D}" type="slidenum">
              <a:rPr lang="en-IN" smtClean="0"/>
              <a:t>‹#›</a:t>
            </a:fld>
            <a:endParaRPr lang="en-IN"/>
          </a:p>
        </p:txBody>
      </p:sp>
    </p:spTree>
    <p:extLst>
      <p:ext uri="{BB962C8B-B14F-4D97-AF65-F5344CB8AC3E}">
        <p14:creationId xmlns:p14="http://schemas.microsoft.com/office/powerpoint/2010/main" val="3773050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95A5A1-F284-45FF-9B44-0DF1C972F2A3}" type="datetimeFigureOut">
              <a:rPr lang="en-IN" smtClean="0"/>
              <a:t>11-10-2024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06C133-9C58-4477-9F47-B2E0268D904D}" type="slidenum">
              <a:rPr lang="en-IN" smtClean="0"/>
              <a:t>‹#›</a:t>
            </a:fld>
            <a:endParaRPr lang="en-IN"/>
          </a:p>
        </p:txBody>
      </p:sp>
    </p:spTree>
    <p:extLst>
      <p:ext uri="{BB962C8B-B14F-4D97-AF65-F5344CB8AC3E}">
        <p14:creationId xmlns:p14="http://schemas.microsoft.com/office/powerpoint/2010/main" val="1348416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195A5A1-F284-45FF-9B44-0DF1C972F2A3}" type="datetimeFigureOut">
              <a:rPr lang="en-IN" smtClean="0"/>
              <a:t>11-10-2024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06C133-9C58-4477-9F47-B2E0268D904D}" type="slidenum">
              <a:rPr lang="en-IN" smtClean="0"/>
              <a:t>‹#›</a:t>
            </a:fld>
            <a:endParaRPr lang="en-IN"/>
          </a:p>
        </p:txBody>
      </p:sp>
    </p:spTree>
    <p:extLst>
      <p:ext uri="{BB962C8B-B14F-4D97-AF65-F5344CB8AC3E}">
        <p14:creationId xmlns:p14="http://schemas.microsoft.com/office/powerpoint/2010/main" val="2172111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195A5A1-F284-45FF-9B44-0DF1C972F2A3}" type="datetimeFigureOut">
              <a:rPr lang="en-IN" smtClean="0"/>
              <a:t>11-10-2024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406C133-9C58-4477-9F47-B2E0268D904D}" type="slidenum">
              <a:rPr lang="en-IN" smtClean="0"/>
              <a:t>‹#›</a:t>
            </a:fld>
            <a:endParaRPr lang="en-IN"/>
          </a:p>
        </p:txBody>
      </p:sp>
    </p:spTree>
    <p:extLst>
      <p:ext uri="{BB962C8B-B14F-4D97-AF65-F5344CB8AC3E}">
        <p14:creationId xmlns:p14="http://schemas.microsoft.com/office/powerpoint/2010/main" val="11588549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195A5A1-F284-45FF-9B44-0DF1C972F2A3}" type="datetimeFigureOut">
              <a:rPr lang="en-IN" smtClean="0"/>
              <a:t>11-10-2024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406C133-9C58-4477-9F47-B2E0268D904D}" type="slidenum">
              <a:rPr lang="en-IN" smtClean="0"/>
              <a:t>‹#›</a:t>
            </a:fld>
            <a:endParaRPr lang="en-IN"/>
          </a:p>
        </p:txBody>
      </p:sp>
    </p:spTree>
    <p:extLst>
      <p:ext uri="{BB962C8B-B14F-4D97-AF65-F5344CB8AC3E}">
        <p14:creationId xmlns:p14="http://schemas.microsoft.com/office/powerpoint/2010/main" val="2142378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95A5A1-F284-45FF-9B44-0DF1C972F2A3}" type="datetimeFigureOut">
              <a:rPr lang="en-IN" smtClean="0"/>
              <a:t>11-10-2024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406C133-9C58-4477-9F47-B2E0268D904D}" type="slidenum">
              <a:rPr lang="en-IN" smtClean="0"/>
              <a:t>‹#›</a:t>
            </a:fld>
            <a:endParaRPr lang="en-IN"/>
          </a:p>
        </p:txBody>
      </p:sp>
    </p:spTree>
    <p:extLst>
      <p:ext uri="{BB962C8B-B14F-4D97-AF65-F5344CB8AC3E}">
        <p14:creationId xmlns:p14="http://schemas.microsoft.com/office/powerpoint/2010/main" val="1318644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195A5A1-F284-45FF-9B44-0DF1C972F2A3}" type="datetimeFigureOut">
              <a:rPr lang="en-IN" smtClean="0"/>
              <a:t>11-10-2024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06C133-9C58-4477-9F47-B2E0268D904D}" type="slidenum">
              <a:rPr lang="en-IN" smtClean="0"/>
              <a:t>‹#›</a:t>
            </a:fld>
            <a:endParaRPr lang="en-IN"/>
          </a:p>
        </p:txBody>
      </p:sp>
    </p:spTree>
    <p:extLst>
      <p:ext uri="{BB962C8B-B14F-4D97-AF65-F5344CB8AC3E}">
        <p14:creationId xmlns:p14="http://schemas.microsoft.com/office/powerpoint/2010/main" val="3927863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195A5A1-F284-45FF-9B44-0DF1C972F2A3}" type="datetimeFigureOut">
              <a:rPr lang="en-IN" smtClean="0"/>
              <a:t>11-10-2024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06C133-9C58-4477-9F47-B2E0268D904D}" type="slidenum">
              <a:rPr lang="en-IN" smtClean="0"/>
              <a:t>‹#›</a:t>
            </a:fld>
            <a:endParaRPr lang="en-IN"/>
          </a:p>
        </p:txBody>
      </p:sp>
    </p:spTree>
    <p:extLst>
      <p:ext uri="{BB962C8B-B14F-4D97-AF65-F5344CB8AC3E}">
        <p14:creationId xmlns:p14="http://schemas.microsoft.com/office/powerpoint/2010/main" val="12942153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95A5A1-F284-45FF-9B44-0DF1C972F2A3}" type="datetimeFigureOut">
              <a:rPr lang="en-IN" smtClean="0"/>
              <a:t>11-10-2024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06C133-9C58-4477-9F47-B2E0268D904D}" type="slidenum">
              <a:rPr lang="en-IN" smtClean="0"/>
              <a:t>‹#›</a:t>
            </a:fld>
            <a:endParaRPr lang="en-IN"/>
          </a:p>
        </p:txBody>
      </p:sp>
    </p:spTree>
    <p:extLst>
      <p:ext uri="{BB962C8B-B14F-4D97-AF65-F5344CB8AC3E}">
        <p14:creationId xmlns:p14="http://schemas.microsoft.com/office/powerpoint/2010/main" val="3108571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95A5A1-F284-45FF-9B44-0DF1C972F2A3}" type="datetimeFigureOut">
              <a:rPr lang="en-IN" smtClean="0"/>
              <a:t>11-10-2024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06C133-9C58-4477-9F47-B2E0268D904D}"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28107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95A5A1-F284-45FF-9B44-0DF1C972F2A3}" type="datetimeFigureOut">
              <a:rPr lang="en-IN" smtClean="0"/>
              <a:t>11-10-2024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06C133-9C58-4477-9F47-B2E0268D904D}" type="slidenum">
              <a:rPr lang="en-IN" smtClean="0"/>
              <a:t>‹#›</a:t>
            </a:fld>
            <a:endParaRPr lang="en-IN"/>
          </a:p>
        </p:txBody>
      </p:sp>
    </p:spTree>
    <p:extLst>
      <p:ext uri="{BB962C8B-B14F-4D97-AF65-F5344CB8AC3E}">
        <p14:creationId xmlns:p14="http://schemas.microsoft.com/office/powerpoint/2010/main" val="1369257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95A5A1-F284-45FF-9B44-0DF1C972F2A3}" type="datetimeFigureOut">
              <a:rPr lang="en-IN" smtClean="0"/>
              <a:t>11-10-2024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06C133-9C58-4477-9F47-B2E0268D904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414901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95A5A1-F284-45FF-9B44-0DF1C972F2A3}" type="datetimeFigureOut">
              <a:rPr lang="en-IN" smtClean="0"/>
              <a:t>11-10-2024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06C133-9C58-4477-9F47-B2E0268D904D}" type="slidenum">
              <a:rPr lang="en-IN" smtClean="0"/>
              <a:t>‹#›</a:t>
            </a:fld>
            <a:endParaRPr lang="en-IN"/>
          </a:p>
        </p:txBody>
      </p:sp>
    </p:spTree>
    <p:extLst>
      <p:ext uri="{BB962C8B-B14F-4D97-AF65-F5344CB8AC3E}">
        <p14:creationId xmlns:p14="http://schemas.microsoft.com/office/powerpoint/2010/main" val="3381745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95A5A1-F284-45FF-9B44-0DF1C972F2A3}" type="datetimeFigureOut">
              <a:rPr lang="en-IN" smtClean="0"/>
              <a:t>11-10-2024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06C133-9C58-4477-9F47-B2E0268D904D}" type="slidenum">
              <a:rPr lang="en-IN" smtClean="0"/>
              <a:t>‹#›</a:t>
            </a:fld>
            <a:endParaRPr lang="en-IN"/>
          </a:p>
        </p:txBody>
      </p:sp>
    </p:spTree>
    <p:extLst>
      <p:ext uri="{BB962C8B-B14F-4D97-AF65-F5344CB8AC3E}">
        <p14:creationId xmlns:p14="http://schemas.microsoft.com/office/powerpoint/2010/main" val="38315001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95A5A1-F284-45FF-9B44-0DF1C972F2A3}" type="datetimeFigureOut">
              <a:rPr lang="en-IN" smtClean="0"/>
              <a:t>11-10-2024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06C133-9C58-4477-9F47-B2E0268D904D}" type="slidenum">
              <a:rPr lang="en-IN" smtClean="0"/>
              <a:t>‹#›</a:t>
            </a:fld>
            <a:endParaRPr lang="en-IN"/>
          </a:p>
        </p:txBody>
      </p:sp>
    </p:spTree>
    <p:extLst>
      <p:ext uri="{BB962C8B-B14F-4D97-AF65-F5344CB8AC3E}">
        <p14:creationId xmlns:p14="http://schemas.microsoft.com/office/powerpoint/2010/main" val="1886314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195A5A1-F284-45FF-9B44-0DF1C972F2A3}" type="datetimeFigureOut">
              <a:rPr lang="en-IN" smtClean="0"/>
              <a:t>11-10-2024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406C133-9C58-4477-9F47-B2E0268D904D}" type="slidenum">
              <a:rPr lang="en-IN" smtClean="0"/>
              <a:t>‹#›</a:t>
            </a:fld>
            <a:endParaRPr lang="en-IN"/>
          </a:p>
        </p:txBody>
      </p:sp>
    </p:spTree>
    <p:extLst>
      <p:ext uri="{BB962C8B-B14F-4D97-AF65-F5344CB8AC3E}">
        <p14:creationId xmlns:p14="http://schemas.microsoft.com/office/powerpoint/2010/main" val="39031432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65740-F544-7EC6-A19E-A43DA3202318}"/>
              </a:ext>
            </a:extLst>
          </p:cNvPr>
          <p:cNvSpPr>
            <a:spLocks noGrp="1"/>
          </p:cNvSpPr>
          <p:nvPr>
            <p:ph type="title"/>
          </p:nvPr>
        </p:nvSpPr>
        <p:spPr/>
        <p:txBody>
          <a:bodyPr>
            <a:normAutofit/>
          </a:bodyPr>
          <a:lstStyle/>
          <a:p>
            <a:r>
              <a:rPr lang="en-IN" sz="4800" dirty="0"/>
              <a:t>College Fee Checker</a:t>
            </a:r>
          </a:p>
        </p:txBody>
      </p:sp>
      <p:sp>
        <p:nvSpPr>
          <p:cNvPr id="3" name="Content Placeholder 2">
            <a:extLst>
              <a:ext uri="{FF2B5EF4-FFF2-40B4-BE49-F238E27FC236}">
                <a16:creationId xmlns:a16="http://schemas.microsoft.com/office/drawing/2014/main" id="{9BCFC462-6B77-FC10-4F96-911E18438EC6}"/>
              </a:ext>
            </a:extLst>
          </p:cNvPr>
          <p:cNvSpPr>
            <a:spLocks noGrp="1"/>
          </p:cNvSpPr>
          <p:nvPr>
            <p:ph idx="1"/>
          </p:nvPr>
        </p:nvSpPr>
        <p:spPr/>
        <p:txBody>
          <a:bodyPr>
            <a:normAutofit/>
          </a:bodyPr>
          <a:lstStyle/>
          <a:p>
            <a:pPr indent="-285750" algn="just" rtl="0">
              <a:spcBef>
                <a:spcPts val="0"/>
              </a:spcBef>
              <a:spcAft>
                <a:spcPts val="0"/>
              </a:spcAft>
            </a:pPr>
            <a:r>
              <a:rPr lang="en-IN" sz="3200" b="1" i="0" u="none" strike="noStrike" dirty="0">
                <a:solidFill>
                  <a:srgbClr val="000000"/>
                </a:solidFill>
                <a:effectLst/>
                <a:latin typeface="Times New Roman" panose="02020603050405020304" pitchFamily="18" charset="0"/>
              </a:rPr>
              <a:t>DOMAIN NAME</a:t>
            </a:r>
            <a:r>
              <a:rPr lang="en-IN" sz="3200" b="1" i="0" u="none" strike="noStrike" dirty="0">
                <a:solidFill>
                  <a:srgbClr val="000000"/>
                </a:solidFill>
                <a:effectLst/>
                <a:latin typeface="Libre Franklin" pitchFamily="2" charset="0"/>
              </a:rPr>
              <a:t> : </a:t>
            </a:r>
            <a:r>
              <a:rPr lang="en-IN" sz="3200" b="0" i="0" u="none" strike="noStrike" dirty="0">
                <a:solidFill>
                  <a:srgbClr val="000000"/>
                </a:solidFill>
                <a:effectLst/>
                <a:latin typeface="Libre Franklin" pitchFamily="2" charset="0"/>
              </a:rPr>
              <a:t>WEB TECHNOLOGY</a:t>
            </a:r>
            <a:endParaRPr lang="en-IN" sz="3200" b="0" dirty="0">
              <a:effectLst/>
            </a:endParaRPr>
          </a:p>
          <a:p>
            <a:pPr indent="-285750" algn="just" rtl="0">
              <a:spcBef>
                <a:spcPts val="0"/>
              </a:spcBef>
              <a:spcAft>
                <a:spcPts val="0"/>
              </a:spcAft>
            </a:pPr>
            <a:r>
              <a:rPr lang="en-IN" sz="3200" b="1" i="0" u="none" strike="noStrike" dirty="0">
                <a:solidFill>
                  <a:srgbClr val="000000"/>
                </a:solidFill>
                <a:effectLst/>
                <a:latin typeface="Times New Roman" panose="02020603050405020304" pitchFamily="18" charset="0"/>
              </a:rPr>
              <a:t>TEAM MEMBERS :</a:t>
            </a:r>
            <a:endParaRPr lang="en-IN" sz="3200" b="0" dirty="0">
              <a:effectLst/>
            </a:endParaRPr>
          </a:p>
          <a:p>
            <a:r>
              <a:rPr lang="en-IN" sz="3200" dirty="0"/>
              <a:t>Paulson J</a:t>
            </a:r>
            <a:br>
              <a:rPr lang="en-IN" sz="3200" dirty="0"/>
            </a:br>
            <a:r>
              <a:rPr lang="en-IN" sz="3200" dirty="0"/>
              <a:t>Naveen C</a:t>
            </a:r>
          </a:p>
        </p:txBody>
      </p:sp>
    </p:spTree>
    <p:extLst>
      <p:ext uri="{BB962C8B-B14F-4D97-AF65-F5344CB8AC3E}">
        <p14:creationId xmlns:p14="http://schemas.microsoft.com/office/powerpoint/2010/main" val="204035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4DF89-7FC6-706C-DC94-578B6AEF5F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B44FA8-FF3E-B1C1-7813-087680D6ACEC}"/>
              </a:ext>
            </a:extLst>
          </p:cNvPr>
          <p:cNvSpPr>
            <a:spLocks noGrp="1"/>
          </p:cNvSpPr>
          <p:nvPr>
            <p:ph type="title"/>
          </p:nvPr>
        </p:nvSpPr>
        <p:spPr/>
        <p:txBody>
          <a:bodyPr>
            <a:normAutofit/>
          </a:bodyPr>
          <a:lstStyle/>
          <a:p>
            <a:r>
              <a:rPr lang="en-IN" sz="2800" dirty="0"/>
              <a:t>Project Abstract</a:t>
            </a:r>
            <a:endParaRPr lang="en-IN" sz="4800" dirty="0"/>
          </a:p>
        </p:txBody>
      </p:sp>
      <p:sp>
        <p:nvSpPr>
          <p:cNvPr id="3" name="Content Placeholder 2">
            <a:extLst>
              <a:ext uri="{FF2B5EF4-FFF2-40B4-BE49-F238E27FC236}">
                <a16:creationId xmlns:a16="http://schemas.microsoft.com/office/drawing/2014/main" id="{3D19EF72-4167-277B-6C38-01E2A1291FDC}"/>
              </a:ext>
            </a:extLst>
          </p:cNvPr>
          <p:cNvSpPr>
            <a:spLocks noGrp="1"/>
          </p:cNvSpPr>
          <p:nvPr>
            <p:ph idx="1"/>
          </p:nvPr>
        </p:nvSpPr>
        <p:spPr>
          <a:xfrm>
            <a:off x="677334" y="1344512"/>
            <a:ext cx="8596668" cy="5164443"/>
          </a:xfrm>
        </p:spPr>
        <p:txBody>
          <a:bodyPr>
            <a:normAutofit fontScale="55000" lnSpcReduction="20000"/>
          </a:bodyPr>
          <a:lstStyle/>
          <a:p>
            <a:r>
              <a:rPr lang="en-GB" sz="3200" dirty="0"/>
              <a:t>The </a:t>
            </a:r>
            <a:r>
              <a:rPr lang="en-GB" sz="3200" b="1" dirty="0"/>
              <a:t>College Fee Checker</a:t>
            </a:r>
            <a:r>
              <a:rPr lang="en-GB" sz="3200" dirty="0"/>
              <a:t> is a web-based application designed to simplify and automate the fee management process for educational institutions. This system allows students to securely access their fee details, including tuition fees, hostel fees, and other charges, through a user-friendly platform. By streamlining the verification and retrieval of fee-related information, the application enhances efficiency, accuracy, and transparency for both students and administrative staff.</a:t>
            </a:r>
          </a:p>
          <a:p>
            <a:r>
              <a:rPr lang="en-GB" sz="3200" dirty="0"/>
              <a:t>The application utilizes a </a:t>
            </a:r>
            <a:r>
              <a:rPr lang="en-GB" sz="3200" b="1" dirty="0"/>
              <a:t>frontend</a:t>
            </a:r>
            <a:r>
              <a:rPr lang="en-GB" sz="3200" dirty="0"/>
              <a:t> built with HTML, CSS, and JavaScript for a responsive and visually appealing user experience, while the </a:t>
            </a:r>
            <a:r>
              <a:rPr lang="en-GB" sz="3200" b="1" dirty="0"/>
              <a:t>backend</a:t>
            </a:r>
            <a:r>
              <a:rPr lang="en-GB" sz="3200" dirty="0"/>
              <a:t> is powered by </a:t>
            </a:r>
            <a:r>
              <a:rPr lang="en-GB" sz="3200" b="1" dirty="0"/>
              <a:t>Node.js</a:t>
            </a:r>
            <a:r>
              <a:rPr lang="en-GB" sz="3200" dirty="0"/>
              <a:t> and </a:t>
            </a:r>
            <a:r>
              <a:rPr lang="en-GB" sz="3200" b="1" dirty="0"/>
              <a:t>Express.js</a:t>
            </a:r>
            <a:r>
              <a:rPr lang="en-GB" sz="3200" dirty="0"/>
              <a:t>, integrated with </a:t>
            </a:r>
            <a:r>
              <a:rPr lang="en-GB" sz="3200" b="1" dirty="0"/>
              <a:t>Microsoft SQL Server</a:t>
            </a:r>
            <a:r>
              <a:rPr lang="en-GB" sz="3200" dirty="0"/>
              <a:t> for secure data storage and management. Students authenticate using their unique </a:t>
            </a:r>
            <a:r>
              <a:rPr lang="en-GB" sz="3200" b="1" dirty="0"/>
              <a:t>Student Registration Number (SPR NO)</a:t>
            </a:r>
            <a:r>
              <a:rPr lang="en-GB" sz="3200" dirty="0"/>
              <a:t> and </a:t>
            </a:r>
            <a:r>
              <a:rPr lang="en-GB" sz="3200" b="1" dirty="0"/>
              <a:t>Date of Birth (DOB)</a:t>
            </a:r>
            <a:r>
              <a:rPr lang="en-GB" sz="3200" dirty="0"/>
              <a:t>, ensuring secure access to their individual fee records. Once logged in, users can view a detailed breakdown of their fees, as well as the total amount payable.</a:t>
            </a:r>
          </a:p>
          <a:p>
            <a:r>
              <a:rPr lang="en-GB" sz="3200" dirty="0"/>
              <a:t>By leveraging modern technologies and a scalable architecture, the College Fee Checker provides an efficient, reliable, and easy-to-use solution for managing and accessing student fee information. This project aims to reduce administrative workload, minimize errors, and improve the overall student experience in fee management processes.</a:t>
            </a:r>
          </a:p>
        </p:txBody>
      </p:sp>
    </p:spTree>
    <p:extLst>
      <p:ext uri="{BB962C8B-B14F-4D97-AF65-F5344CB8AC3E}">
        <p14:creationId xmlns:p14="http://schemas.microsoft.com/office/powerpoint/2010/main" val="1826476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B751A-AEA7-8E92-39B9-D5D9FDABA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9AE360-B809-1B68-B6CF-0F4783D85260}"/>
              </a:ext>
            </a:extLst>
          </p:cNvPr>
          <p:cNvSpPr>
            <a:spLocks noGrp="1"/>
          </p:cNvSpPr>
          <p:nvPr>
            <p:ph type="title"/>
          </p:nvPr>
        </p:nvSpPr>
        <p:spPr>
          <a:xfrm>
            <a:off x="677334" y="378542"/>
            <a:ext cx="8596668" cy="452284"/>
          </a:xfrm>
        </p:spPr>
        <p:txBody>
          <a:bodyPr>
            <a:normAutofit fontScale="90000"/>
          </a:bodyPr>
          <a:lstStyle/>
          <a:p>
            <a:r>
              <a:rPr lang="en-IN" sz="2400" dirty="0"/>
              <a:t>Technologies Used</a:t>
            </a:r>
            <a:endParaRPr lang="en-IN" sz="7200" dirty="0"/>
          </a:p>
        </p:txBody>
      </p:sp>
      <p:sp>
        <p:nvSpPr>
          <p:cNvPr id="3" name="Content Placeholder 2">
            <a:extLst>
              <a:ext uri="{FF2B5EF4-FFF2-40B4-BE49-F238E27FC236}">
                <a16:creationId xmlns:a16="http://schemas.microsoft.com/office/drawing/2014/main" id="{FA9F5E78-5E47-F68E-69FE-E35ADCD4EB8A}"/>
              </a:ext>
            </a:extLst>
          </p:cNvPr>
          <p:cNvSpPr>
            <a:spLocks noGrp="1"/>
          </p:cNvSpPr>
          <p:nvPr>
            <p:ph idx="1"/>
          </p:nvPr>
        </p:nvSpPr>
        <p:spPr>
          <a:xfrm>
            <a:off x="677334" y="1079090"/>
            <a:ext cx="8596668" cy="6029633"/>
          </a:xfrm>
        </p:spPr>
        <p:txBody>
          <a:bodyPr>
            <a:normAutofit/>
          </a:bodyPr>
          <a:lstStyle/>
          <a:p>
            <a:r>
              <a:rPr lang="en-GB" sz="1400" b="1" dirty="0"/>
              <a:t>Frontend</a:t>
            </a:r>
            <a:r>
              <a:rPr lang="en-GB" sz="1200" b="1" dirty="0"/>
              <a:t>:</a:t>
            </a:r>
          </a:p>
          <a:p>
            <a:r>
              <a:rPr lang="en-GB" sz="1200" b="1" dirty="0"/>
              <a:t>HTML5 &amp; CSS3: Utilized for structuring and styling the web pages, ensuring a responsive and aesthetically pleasing user interface.</a:t>
            </a:r>
          </a:p>
          <a:p>
            <a:r>
              <a:rPr lang="en-GB" sz="1200" b="1" dirty="0"/>
              <a:t>JavaScript: Implements interactive functionalities, enhancing user engagement and experience.</a:t>
            </a:r>
          </a:p>
          <a:p>
            <a:r>
              <a:rPr lang="en-GB" sz="1200" b="1" dirty="0"/>
              <a:t>Google Fonts: Incorporated to provide modern and readable typography, contributing to a clean and professional design.</a:t>
            </a:r>
          </a:p>
          <a:p>
            <a:r>
              <a:rPr lang="en-GB" sz="1400" b="1" dirty="0"/>
              <a:t>Backend:</a:t>
            </a:r>
          </a:p>
          <a:p>
            <a:r>
              <a:rPr lang="en-GB" sz="1200" b="1" dirty="0"/>
              <a:t>Node.js &amp; Express.js: Serve as the foundation for the server-side operations, handling requests, responses, and business logic efficiently.</a:t>
            </a:r>
          </a:p>
          <a:p>
            <a:r>
              <a:rPr lang="en-GB" sz="1200" b="1" dirty="0"/>
              <a:t>Microsoft SQL Server: Employed as the relational database management system to store and manage student data and fee details securely.</a:t>
            </a:r>
          </a:p>
          <a:p>
            <a:r>
              <a:rPr lang="en-GB" sz="1200" b="1" dirty="0"/>
              <a:t>MSSQL Package: Facilitates seamless communication between the Node.js server and the SQL Server database.</a:t>
            </a:r>
          </a:p>
          <a:p>
            <a:r>
              <a:rPr lang="en-GB" sz="1200" b="1" dirty="0" err="1"/>
              <a:t>dotenv</a:t>
            </a:r>
            <a:r>
              <a:rPr lang="en-GB" sz="1200" b="1" dirty="0"/>
              <a:t>: Manages environment variables, ensuring sensitive information like database credentials remains secure.</a:t>
            </a:r>
          </a:p>
          <a:p>
            <a:r>
              <a:rPr lang="en-GB" sz="1400" b="1" dirty="0"/>
              <a:t>Security &amp; Performance:</a:t>
            </a:r>
          </a:p>
          <a:p>
            <a:r>
              <a:rPr lang="en-GB" sz="1200" b="1" dirty="0"/>
              <a:t>CORS Middleware: Enables Cross-Origin Resource Sharing, allowing the frontend to communicate securely with the backend API.</a:t>
            </a:r>
          </a:p>
          <a:p>
            <a:r>
              <a:rPr lang="en-GB" sz="1200" b="1" dirty="0"/>
              <a:t>Session Storage: Utilized for temporary data storage, enhancing security by ensuring session data is cleared upon browser closure.</a:t>
            </a:r>
          </a:p>
        </p:txBody>
      </p:sp>
    </p:spTree>
    <p:extLst>
      <p:ext uri="{BB962C8B-B14F-4D97-AF65-F5344CB8AC3E}">
        <p14:creationId xmlns:p14="http://schemas.microsoft.com/office/powerpoint/2010/main" val="1933785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2530F-6814-3DF1-FAB7-C109EEC69D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4F29D0-4AB0-1D70-6780-DD0E1FEA77A1}"/>
              </a:ext>
            </a:extLst>
          </p:cNvPr>
          <p:cNvSpPr>
            <a:spLocks noGrp="1"/>
          </p:cNvSpPr>
          <p:nvPr>
            <p:ph type="title"/>
          </p:nvPr>
        </p:nvSpPr>
        <p:spPr>
          <a:xfrm>
            <a:off x="677334" y="378541"/>
            <a:ext cx="8596668" cy="1096297"/>
          </a:xfrm>
        </p:spPr>
        <p:txBody>
          <a:bodyPr>
            <a:normAutofit/>
          </a:bodyPr>
          <a:lstStyle/>
          <a:p>
            <a:r>
              <a:rPr lang="en-IN" sz="6000" dirty="0"/>
              <a:t>Overview</a:t>
            </a:r>
            <a:endParaRPr lang="en-IN" sz="74900" dirty="0"/>
          </a:p>
        </p:txBody>
      </p:sp>
      <p:sp>
        <p:nvSpPr>
          <p:cNvPr id="3" name="Content Placeholder 2">
            <a:extLst>
              <a:ext uri="{FF2B5EF4-FFF2-40B4-BE49-F238E27FC236}">
                <a16:creationId xmlns:a16="http://schemas.microsoft.com/office/drawing/2014/main" id="{42D76991-68DA-78AF-1459-846AC26355F1}"/>
              </a:ext>
            </a:extLst>
          </p:cNvPr>
          <p:cNvSpPr>
            <a:spLocks noGrp="1"/>
          </p:cNvSpPr>
          <p:nvPr>
            <p:ph idx="1"/>
          </p:nvPr>
        </p:nvSpPr>
        <p:spPr>
          <a:xfrm>
            <a:off x="677334" y="1877961"/>
            <a:ext cx="8596668" cy="5230762"/>
          </a:xfrm>
        </p:spPr>
        <p:txBody>
          <a:bodyPr>
            <a:normAutofit/>
          </a:bodyPr>
          <a:lstStyle/>
          <a:p>
            <a:r>
              <a:rPr lang="en-GB" sz="3200" dirty="0"/>
              <a:t>The College Fee Checker is a web-based application designed to streamline fee management for educational institutions. It provides a secure platform for students to access detailed information about their fees, enhancing transparency and efficiency.</a:t>
            </a:r>
            <a:endParaRPr lang="en-GB" sz="2800" b="1" dirty="0"/>
          </a:p>
        </p:txBody>
      </p:sp>
    </p:spTree>
    <p:extLst>
      <p:ext uri="{BB962C8B-B14F-4D97-AF65-F5344CB8AC3E}">
        <p14:creationId xmlns:p14="http://schemas.microsoft.com/office/powerpoint/2010/main" val="163552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C5917-F085-716A-2F0C-27B59CD9B6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DD3347-B3E7-6002-CBC9-10DC65798226}"/>
              </a:ext>
            </a:extLst>
          </p:cNvPr>
          <p:cNvSpPr>
            <a:spLocks noGrp="1"/>
          </p:cNvSpPr>
          <p:nvPr>
            <p:ph type="title"/>
          </p:nvPr>
        </p:nvSpPr>
        <p:spPr>
          <a:xfrm>
            <a:off x="677334" y="378542"/>
            <a:ext cx="8596668" cy="644014"/>
          </a:xfrm>
        </p:spPr>
        <p:txBody>
          <a:bodyPr>
            <a:normAutofit fontScale="90000"/>
          </a:bodyPr>
          <a:lstStyle/>
          <a:p>
            <a:r>
              <a:rPr lang="en-IN" sz="6000" dirty="0"/>
              <a:t>Features</a:t>
            </a:r>
            <a:endParaRPr lang="en-IN" sz="74900" dirty="0"/>
          </a:p>
        </p:txBody>
      </p:sp>
      <p:sp>
        <p:nvSpPr>
          <p:cNvPr id="3" name="Content Placeholder 2">
            <a:extLst>
              <a:ext uri="{FF2B5EF4-FFF2-40B4-BE49-F238E27FC236}">
                <a16:creationId xmlns:a16="http://schemas.microsoft.com/office/drawing/2014/main" id="{64A27F63-7AC7-1CE7-869B-94DFF8C30E55}"/>
              </a:ext>
            </a:extLst>
          </p:cNvPr>
          <p:cNvSpPr>
            <a:spLocks noGrp="1"/>
          </p:cNvSpPr>
          <p:nvPr>
            <p:ph idx="1"/>
          </p:nvPr>
        </p:nvSpPr>
        <p:spPr>
          <a:xfrm>
            <a:off x="677334" y="1661652"/>
            <a:ext cx="8596668" cy="4817806"/>
          </a:xfrm>
        </p:spPr>
        <p:txBody>
          <a:bodyPr>
            <a:normAutofit fontScale="47500" lnSpcReduction="20000"/>
          </a:bodyPr>
          <a:lstStyle/>
          <a:p>
            <a:pPr algn="just"/>
            <a:r>
              <a:rPr lang="en-GB" sz="3800" b="1" dirty="0"/>
              <a:t>Secure Authentication:</a:t>
            </a:r>
          </a:p>
          <a:p>
            <a:pPr algn="just"/>
            <a:r>
              <a:rPr lang="en-GB" sz="3200" dirty="0"/>
              <a:t>Students can log in using their unique Student Registration Number (SPR NO) and Date of Birth (DOB), ensuring that only authorized individuals access their fee information.</a:t>
            </a:r>
          </a:p>
          <a:p>
            <a:pPr algn="just"/>
            <a:r>
              <a:rPr lang="en-GB" sz="3800" b="1" dirty="0"/>
              <a:t>Comprehensive Fee Breakdown:</a:t>
            </a:r>
          </a:p>
          <a:p>
            <a:pPr algn="just"/>
            <a:r>
              <a:rPr lang="en-GB" sz="3200" dirty="0"/>
              <a:t>Upon successful authentication, students can view a detailed breakdown of their fees, including hostel fees, tuition fees, textbook fees, skill development fees, exam stationery fees, and notebook fees.</a:t>
            </a:r>
          </a:p>
          <a:p>
            <a:pPr algn="just"/>
            <a:r>
              <a:rPr lang="en-GB" sz="3800" b="1" dirty="0"/>
              <a:t>Responsive Design:</a:t>
            </a:r>
          </a:p>
          <a:p>
            <a:pPr algn="just"/>
            <a:r>
              <a:rPr lang="en-GB" sz="3200" dirty="0"/>
              <a:t>The application is designed to be fully responsive, providing an optimal viewing experience across various devices, including desktops, tablets, and smartphones.</a:t>
            </a:r>
          </a:p>
          <a:p>
            <a:pPr algn="just"/>
            <a:r>
              <a:rPr lang="en-GB" sz="3200" dirty="0"/>
              <a:t>User-Friendly Interface:</a:t>
            </a:r>
          </a:p>
          <a:p>
            <a:pPr algn="just"/>
            <a:r>
              <a:rPr lang="en-GB" sz="3200" dirty="0"/>
              <a:t>A clean and intuitive user interface ensures that students can navigate the application effortlessly, accessing the information they need without unnecessary complexity.</a:t>
            </a:r>
          </a:p>
          <a:p>
            <a:pPr algn="just"/>
            <a:r>
              <a:rPr lang="en-GB" sz="3800" b="1" dirty="0"/>
              <a:t>Error Handling:</a:t>
            </a:r>
          </a:p>
          <a:p>
            <a:pPr algn="just"/>
            <a:r>
              <a:rPr lang="en-GB" sz="3200" dirty="0"/>
              <a:t>Robust error handling mechanisms inform users of any issues during login or data retrieval, enhancing the reliability and trustworthiness of the application.</a:t>
            </a:r>
            <a:endParaRPr lang="en-GB" sz="2800" b="1" dirty="0"/>
          </a:p>
        </p:txBody>
      </p:sp>
    </p:spTree>
    <p:extLst>
      <p:ext uri="{BB962C8B-B14F-4D97-AF65-F5344CB8AC3E}">
        <p14:creationId xmlns:p14="http://schemas.microsoft.com/office/powerpoint/2010/main" val="3660017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C34CE-7A31-CBA1-A216-3CF244178F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8BBE02-720C-F3F3-5EA0-1DBE2C1E1DA2}"/>
              </a:ext>
            </a:extLst>
          </p:cNvPr>
          <p:cNvSpPr>
            <a:spLocks noGrp="1"/>
          </p:cNvSpPr>
          <p:nvPr>
            <p:ph type="title" idx="4294967295"/>
          </p:nvPr>
        </p:nvSpPr>
        <p:spPr>
          <a:xfrm>
            <a:off x="275304" y="171347"/>
            <a:ext cx="8596313" cy="644525"/>
          </a:xfrm>
        </p:spPr>
        <p:txBody>
          <a:bodyPr>
            <a:normAutofit fontScale="90000"/>
          </a:bodyPr>
          <a:lstStyle/>
          <a:p>
            <a:r>
              <a:rPr lang="en-IN" sz="6000" dirty="0"/>
              <a:t>Output</a:t>
            </a:r>
            <a:endParaRPr lang="en-IN" sz="74900" dirty="0"/>
          </a:p>
        </p:txBody>
      </p:sp>
      <p:pic>
        <p:nvPicPr>
          <p:cNvPr id="5" name="Picture 4">
            <a:extLst>
              <a:ext uri="{FF2B5EF4-FFF2-40B4-BE49-F238E27FC236}">
                <a16:creationId xmlns:a16="http://schemas.microsoft.com/office/drawing/2014/main" id="{7F0C4E7C-6CFA-827D-BC5F-D7FAE22D99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1547" y="1528404"/>
            <a:ext cx="9320981" cy="4951771"/>
          </a:xfrm>
          <a:prstGeom prst="rect">
            <a:avLst/>
          </a:prstGeom>
        </p:spPr>
      </p:pic>
    </p:spTree>
    <p:extLst>
      <p:ext uri="{BB962C8B-B14F-4D97-AF65-F5344CB8AC3E}">
        <p14:creationId xmlns:p14="http://schemas.microsoft.com/office/powerpoint/2010/main" val="3919050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9D9C0-7EB4-F5C5-755D-B4ADC7B29F9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45234B6-1F39-A16A-073A-2A1E4602C7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0500"/>
            <a:ext cx="12192000" cy="6477000"/>
          </a:xfrm>
          <a:prstGeom prst="rect">
            <a:avLst/>
          </a:prstGeom>
        </p:spPr>
      </p:pic>
    </p:spTree>
    <p:extLst>
      <p:ext uri="{BB962C8B-B14F-4D97-AF65-F5344CB8AC3E}">
        <p14:creationId xmlns:p14="http://schemas.microsoft.com/office/powerpoint/2010/main" val="3976590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D279E-80DA-5CDF-0FAF-5DD8F3D1ACC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F4043AA-3F4D-1DC9-D921-5DFF7C9770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0500"/>
            <a:ext cx="12192000" cy="6477000"/>
          </a:xfrm>
          <a:prstGeom prst="rect">
            <a:avLst/>
          </a:prstGeom>
        </p:spPr>
      </p:pic>
    </p:spTree>
    <p:extLst>
      <p:ext uri="{BB962C8B-B14F-4D97-AF65-F5344CB8AC3E}">
        <p14:creationId xmlns:p14="http://schemas.microsoft.com/office/powerpoint/2010/main" val="664702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27B47-92F4-E408-A9EA-0DCB1A100A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103FCA-FC45-68C6-330F-4454446CEDED}"/>
              </a:ext>
            </a:extLst>
          </p:cNvPr>
          <p:cNvSpPr>
            <a:spLocks noGrp="1"/>
          </p:cNvSpPr>
          <p:nvPr>
            <p:ph type="title"/>
          </p:nvPr>
        </p:nvSpPr>
        <p:spPr>
          <a:xfrm>
            <a:off x="677334" y="378541"/>
            <a:ext cx="8596668" cy="1096297"/>
          </a:xfrm>
        </p:spPr>
        <p:txBody>
          <a:bodyPr>
            <a:normAutofit/>
          </a:bodyPr>
          <a:lstStyle/>
          <a:p>
            <a:r>
              <a:rPr lang="en-IN" sz="3600" dirty="0"/>
              <a:t>Conclusion</a:t>
            </a:r>
            <a:endParaRPr lang="en-IN" sz="74900" dirty="0"/>
          </a:p>
        </p:txBody>
      </p:sp>
      <p:sp>
        <p:nvSpPr>
          <p:cNvPr id="3" name="Content Placeholder 2">
            <a:extLst>
              <a:ext uri="{FF2B5EF4-FFF2-40B4-BE49-F238E27FC236}">
                <a16:creationId xmlns:a16="http://schemas.microsoft.com/office/drawing/2014/main" id="{6059A0AB-6FCF-BEBC-A97F-8176250B307B}"/>
              </a:ext>
            </a:extLst>
          </p:cNvPr>
          <p:cNvSpPr>
            <a:spLocks noGrp="1"/>
          </p:cNvSpPr>
          <p:nvPr>
            <p:ph idx="1"/>
          </p:nvPr>
        </p:nvSpPr>
        <p:spPr>
          <a:xfrm>
            <a:off x="677334" y="1248697"/>
            <a:ext cx="8596668" cy="5230762"/>
          </a:xfrm>
        </p:spPr>
        <p:txBody>
          <a:bodyPr>
            <a:normAutofit fontScale="92500" lnSpcReduction="20000"/>
          </a:bodyPr>
          <a:lstStyle/>
          <a:p>
            <a:r>
              <a:rPr lang="en-GB" sz="3200" dirty="0"/>
              <a:t>The College Fee Checker project embodies a modern solution to traditional fee management challenges faced by educational institutions. By leveraging cutting-edge web technologies and a robust backend infrastructure, the application delivers a secure, efficient, and user-friendly platform that significantly enhances the fee management experience for both students and administrators. As educational environments continue to evolve, tools like the College Fee Checker play a crucial role in fostering operational excellence and student satisfaction.</a:t>
            </a:r>
            <a:endParaRPr lang="en-GB" sz="2800" b="1" dirty="0"/>
          </a:p>
        </p:txBody>
      </p:sp>
    </p:spTree>
    <p:extLst>
      <p:ext uri="{BB962C8B-B14F-4D97-AF65-F5344CB8AC3E}">
        <p14:creationId xmlns:p14="http://schemas.microsoft.com/office/powerpoint/2010/main" val="241312404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12</TotalTime>
  <Words>704</Words>
  <Application>Microsoft Office PowerPoint</Application>
  <PresentationFormat>Widescreen</PresentationFormat>
  <Paragraphs>37</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Libre Franklin</vt:lpstr>
      <vt:lpstr>Times New Roman</vt:lpstr>
      <vt:lpstr>Trebuchet MS</vt:lpstr>
      <vt:lpstr>Wingdings 3</vt:lpstr>
      <vt:lpstr>Facet</vt:lpstr>
      <vt:lpstr>College Fee Checker</vt:lpstr>
      <vt:lpstr>Project Abstract</vt:lpstr>
      <vt:lpstr>Technologies Used</vt:lpstr>
      <vt:lpstr>Overview</vt:lpstr>
      <vt:lpstr>Features</vt:lpstr>
      <vt:lpstr>Output</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Johnson Rajkumar</dc:creator>
  <cp:lastModifiedBy>Johnson Rajkumar</cp:lastModifiedBy>
  <cp:revision>1</cp:revision>
  <dcterms:created xsi:type="dcterms:W3CDTF">2024-10-11T00:06:37Z</dcterms:created>
  <dcterms:modified xsi:type="dcterms:W3CDTF">2024-10-11T00:19:07Z</dcterms:modified>
</cp:coreProperties>
</file>